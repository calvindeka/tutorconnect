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C_MASTER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64592" cy="164592"/>
          </a:xfrm>
          <a:prstGeom prst="rect">
            <a:avLst/>
          </a:prstGeom>
          <a:solidFill>
            <a:srgbClr val="3D5A4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4688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-100" kern="0" dirty="0">
                <a:solidFill>
                  <a:srgbClr val="3D5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TutorConnect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644652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 318 · Final Project · Calvin Deka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0" y="6446520"/>
            <a:ext cx="4507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10.192.145.179:4131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86032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0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86032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0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5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5A7A5A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0"/>
            <a:ext cx="54864" cy="6858000"/>
          </a:xfrm>
          <a:prstGeom prst="rect">
            <a:avLst/>
          </a:prstGeom>
          <a:solidFill>
            <a:srgbClr val="C97B63"/>
          </a:solidFill>
          <a:ln w="12700">
            <a:solidFill>
              <a:srgbClr val="C97B6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7280" y="1188720"/>
            <a:ext cx="502920" cy="502920"/>
          </a:xfrm>
          <a:prstGeom prst="rect">
            <a:avLst/>
          </a:prstGeom>
          <a:solidFill>
            <a:srgbClr val="C97B63"/>
          </a:solidFill>
          <a:ln w="12700">
            <a:solidFill>
              <a:srgbClr val="C97B6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1188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97280" y="192024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spc="-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TutorConnect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1097280" y="32004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3EE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peer tutoring platform for Kenyon students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97280" y="49377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Calvin Deka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97280" y="5303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3EE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 318 · Software Development · Spring 2026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55778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3EE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Project Presentation · May 5, 2026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686800" y="5486400"/>
            <a:ext cx="3108960" cy="457200"/>
          </a:xfrm>
          <a:prstGeom prst="roundRect">
            <a:avLst>
              <a:gd name="adj" fmla="val 16000"/>
            </a:avLst>
          </a:prstGeom>
          <a:solidFill>
            <a:srgbClr val="5A7A5A"/>
          </a:solidFill>
          <a:ln w="12700">
            <a:solidFill>
              <a:srgbClr val="5A7A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0" y="54864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10.192.145.179:4131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7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PROJECT OVERVIEW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3D5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students who need help with peer tutors who can give it.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65760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E8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37744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5A7A5A"/>
          </a:solidFill>
          <a:ln w="12700">
            <a:solidFill>
              <a:srgbClr val="5A7A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377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</a:rPr>
              <a:t>🔍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22960" y="30175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 tutor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338328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subject, day, rating. Only approved tutors appear.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34840" y="2103120"/>
            <a:ext cx="365760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E8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09160" y="237744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C97B63"/>
          </a:solidFill>
          <a:ln w="12700">
            <a:solidFill>
              <a:srgbClr val="C97B6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09160" y="2377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</a:rPr>
              <a:t>📅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709160" y="30175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a session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709160" y="338328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→ tutor confirms → completes. Conflict + availability checked.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321040" y="2103120"/>
            <a:ext cx="365760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E8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595360" y="237744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3D5A40"/>
          </a:solidFill>
          <a:ln w="12700">
            <a:solidFill>
              <a:srgbClr val="3D5A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95360" y="2377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</a:rPr>
              <a:t>⭐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595360" y="30175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the experience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595360" y="338328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drive tutor quality. Admins moderate flagged content.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4348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63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three roles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484632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6B6357"/>
          </a:solidFill>
          <a:ln w="12700">
            <a:solidFill>
              <a:srgbClr val="6B635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484632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011680" y="48006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3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tutors, book, review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434840" y="484632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5A7A5A"/>
          </a:solidFill>
          <a:ln w="12700">
            <a:solidFill>
              <a:srgbClr val="5A7A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34840" y="484632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897880" y="48006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3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Apply, set availability, accept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321040" y="484632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C97B63"/>
          </a:solidFill>
          <a:ln w="12700">
            <a:solidFill>
              <a:srgbClr val="C97B6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321040" y="484632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784080" y="48006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3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Approve, moderate, see stats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48640" y="5669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3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Replaces ad-hoc word-of-mouth and group chats with one quality-controlled platform.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86032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0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7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SYSTEM FEATURES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3D5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workflows, all working.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6B63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lifecycle (the heart of the app)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10312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8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2057400"/>
            <a:ext cx="365760" cy="365760"/>
          </a:xfrm>
          <a:prstGeom prst="ellipse">
            <a:avLst/>
          </a:prstGeom>
          <a:solidFill>
            <a:srgbClr val="8AA68A"/>
          </a:solidFill>
          <a:ln w="12700">
            <a:solidFill>
              <a:srgbClr val="8AA68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2057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43000" y="201168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searches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43000" y="2304288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3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subject, day, rating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670048" y="2167128"/>
            <a:ext cx="274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AA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2944368" y="1920240"/>
            <a:ext cx="210312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8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081528" y="2057400"/>
            <a:ext cx="365760" cy="365760"/>
          </a:xfrm>
          <a:prstGeom prst="ellipse">
            <a:avLst/>
          </a:prstGeom>
          <a:solidFill>
            <a:srgbClr val="8AA68A"/>
          </a:solidFill>
          <a:ln w="12700">
            <a:solidFill>
              <a:srgbClr val="8AA68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81528" y="2057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38728" y="201168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session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538728" y="2304288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3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tutor availability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65776" y="2167128"/>
            <a:ext cx="274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AA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340096" y="1920240"/>
            <a:ext cx="210312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8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77256" y="2057400"/>
            <a:ext cx="365760" cy="365760"/>
          </a:xfrm>
          <a:prstGeom prst="ellipse">
            <a:avLst/>
          </a:prstGeom>
          <a:solidFill>
            <a:srgbClr val="5A7A5A"/>
          </a:solidFill>
          <a:ln w="12700">
            <a:solidFill>
              <a:srgbClr val="5A7A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77256" y="2057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934456" y="201168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 confirms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934456" y="2304288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3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declines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461504" y="2167128"/>
            <a:ext cx="274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AA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7735824" y="1920240"/>
            <a:ext cx="210312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8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72984" y="2057400"/>
            <a:ext cx="365760" cy="365760"/>
          </a:xfrm>
          <a:prstGeom prst="ellipse">
            <a:avLst/>
          </a:prstGeom>
          <a:solidFill>
            <a:srgbClr val="5A7A5A"/>
          </a:solidFill>
          <a:ln w="12700">
            <a:solidFill>
              <a:srgbClr val="5A7A5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872984" y="2057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330184" y="201168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completed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330184" y="2304288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3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session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857232" y="2167128"/>
            <a:ext cx="274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AA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0131552" y="1920240"/>
            <a:ext cx="210312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8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268712" y="2057400"/>
            <a:ext cx="365760" cy="365760"/>
          </a:xfrm>
          <a:prstGeom prst="ellipse">
            <a:avLst/>
          </a:prstGeom>
          <a:solidFill>
            <a:srgbClr val="C97B63"/>
          </a:solidFill>
          <a:ln w="12700">
            <a:solidFill>
              <a:srgbClr val="C97B6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268712" y="2057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725912" y="201168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reviews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0725912" y="2304288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3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1-5 stars + comment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8640" y="3291840"/>
            <a:ext cx="5577840" cy="2468880"/>
          </a:xfrm>
          <a:prstGeom prst="roundRect">
            <a:avLst>
              <a:gd name="adj" fmla="val 4444"/>
            </a:avLst>
          </a:prstGeom>
          <a:solidFill>
            <a:srgbClr val="F3EEE5"/>
          </a:solidFill>
          <a:ln w="9525">
            <a:solidFill>
              <a:srgbClr val="E8E2D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7240" y="347472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5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logic enforced server-side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868680" y="3931920"/>
            <a:ext cx="91440" cy="91440"/>
          </a:xfrm>
          <a:prstGeom prst="ellipse">
            <a:avLst/>
          </a:prstGeom>
          <a:solidFill>
            <a:srgbClr val="5A7A5A"/>
          </a:solidFill>
          <a:ln w="12700">
            <a:solidFill>
              <a:srgbClr val="5A7A5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51560" y="38404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A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machine: requested → confirmed → completed/cancelled — only valid transitions, only by the right actor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868680" y="4389120"/>
            <a:ext cx="91440" cy="91440"/>
          </a:xfrm>
          <a:prstGeom prst="ellipse">
            <a:avLst/>
          </a:prstGeom>
          <a:solidFill>
            <a:srgbClr val="5A7A5A"/>
          </a:solidFill>
          <a:ln w="12700">
            <a:solidFill>
              <a:srgbClr val="5A7A5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51560" y="42976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A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 fit: requested time must fall fully inside one of the tutor's weekly slots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68680" y="4846320"/>
            <a:ext cx="91440" cy="91440"/>
          </a:xfrm>
          <a:prstGeom prst="ellipse">
            <a:avLst/>
          </a:prstGeom>
          <a:solidFill>
            <a:srgbClr val="5A7A5A"/>
          </a:solidFill>
          <a:ln w="12700">
            <a:solidFill>
              <a:srgbClr val="5A7A5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51560" y="4754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A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 detection: rejects 409 if any other active session overlaps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868680" y="5303520"/>
            <a:ext cx="91440" cy="91440"/>
          </a:xfrm>
          <a:prstGeom prst="ellipse">
            <a:avLst/>
          </a:prstGeom>
          <a:solidFill>
            <a:srgbClr val="5A7A5A"/>
          </a:solidFill>
          <a:ln w="12700">
            <a:solidFill>
              <a:srgbClr val="5A7A5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51560" y="52120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A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guards: only the student in the session, only after completed, one review per session (DB UNIQUE)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263640" y="3291840"/>
            <a:ext cx="5577840" cy="2468880"/>
          </a:xfrm>
          <a:prstGeom prst="roundRect">
            <a:avLst>
              <a:gd name="adj" fmla="val 4444"/>
            </a:avLst>
          </a:prstGeom>
          <a:solidFill>
            <a:srgbClr val="F3EEE5"/>
          </a:solidFill>
          <a:ln w="9525">
            <a:solidFill>
              <a:srgbClr val="E8E2D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92240" y="347472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5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0" y="3931920"/>
            <a:ext cx="91440" cy="91440"/>
          </a:xfrm>
          <a:prstGeom prst="ellipse">
            <a:avLst/>
          </a:prstGeom>
          <a:solidFill>
            <a:srgbClr val="C97B63"/>
          </a:solidFill>
          <a:ln w="12700">
            <a:solidFill>
              <a:srgbClr val="C97B63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766560" y="38404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A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Session-based auth (express-session). Bcrypt password hashing. Sanitized /me — never leaks password_hash.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583680" y="4389120"/>
            <a:ext cx="91440" cy="91440"/>
          </a:xfrm>
          <a:prstGeom prst="ellipse">
            <a:avLst/>
          </a:prstGeom>
          <a:solidFill>
            <a:srgbClr val="C97B63"/>
          </a:solidFill>
          <a:ln w="12700">
            <a:solidFill>
              <a:srgbClr val="C97B6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766560" y="42976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A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middleware: requireAuth + requireRole('admin'). Returns 401/403 cleanly.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583680" y="4846320"/>
            <a:ext cx="91440" cy="91440"/>
          </a:xfrm>
          <a:prstGeom prst="ellipse">
            <a:avLst/>
          </a:prstGeom>
          <a:solidFill>
            <a:srgbClr val="C97B63"/>
          </a:solidFill>
          <a:ln w="12700">
            <a:solidFill>
              <a:srgbClr val="C97B6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766560" y="4754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A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Tutors can only edit their own profile; students can only review sessions they attended.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6583680" y="5303520"/>
            <a:ext cx="91440" cy="91440"/>
          </a:xfrm>
          <a:prstGeom prst="ellipse">
            <a:avLst/>
          </a:prstGeom>
          <a:solidFill>
            <a:srgbClr val="C97B63"/>
          </a:solidFill>
          <a:ln w="12700">
            <a:solidFill>
              <a:srgbClr val="C97B63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766560" y="52120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A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SQL parameterized; input validated with express-validator.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86032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0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7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DATABASE SCHEMA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3D5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tables, normalized, FK-constrained, indexed.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7432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8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91640"/>
            <a:ext cx="73152" cy="960120"/>
          </a:xfrm>
          <a:prstGeom prst="rect">
            <a:avLst/>
          </a:prstGeom>
          <a:solidFill>
            <a:srgbClr val="5A7A5A"/>
          </a:solidFill>
          <a:ln w="12700">
            <a:solidFill>
              <a:srgbClr val="5A7A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801368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5A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21488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3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id, email, password_hash, name, role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10712" y="1691640"/>
            <a:ext cx="27432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8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10712" y="1691640"/>
            <a:ext cx="73152" cy="960120"/>
          </a:xfrm>
          <a:prstGeom prst="rect">
            <a:avLst/>
          </a:prstGeom>
          <a:solidFill>
            <a:srgbClr val="5A7A5A"/>
          </a:solidFill>
          <a:ln w="12700">
            <a:solidFill>
              <a:srgbClr val="5A7A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39312" y="1801368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5A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tutor_profiles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39312" y="21488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3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user_id (UNIQUE), bio, status, gpa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72784" y="1691640"/>
            <a:ext cx="27432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8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72784" y="1691640"/>
            <a:ext cx="73152" cy="960120"/>
          </a:xfrm>
          <a:prstGeom prst="rect">
            <a:avLst/>
          </a:prstGeom>
          <a:solidFill>
            <a:srgbClr val="8AA68A"/>
          </a:solidFill>
          <a:ln w="12700">
            <a:solidFill>
              <a:srgbClr val="8AA68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01384" y="1801368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5A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subjects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01384" y="21488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3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id, name (UNIQUE), category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134856" y="1691640"/>
            <a:ext cx="27432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8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34856" y="1691640"/>
            <a:ext cx="73152" cy="960120"/>
          </a:xfrm>
          <a:prstGeom prst="rect">
            <a:avLst/>
          </a:prstGeom>
          <a:solidFill>
            <a:srgbClr val="8AA68A"/>
          </a:solidFill>
          <a:ln w="12700">
            <a:solidFill>
              <a:srgbClr val="8AA68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63456" y="1801368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5A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tutor_subjects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363456" y="21488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3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M:N junction tutor ↔ subject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2816352"/>
            <a:ext cx="27432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8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2816352"/>
            <a:ext cx="73152" cy="960120"/>
          </a:xfrm>
          <a:prstGeom prst="rect">
            <a:avLst/>
          </a:prstGeom>
          <a:solidFill>
            <a:srgbClr val="5A7A5A"/>
          </a:solidFill>
          <a:ln w="12700">
            <a:solidFill>
              <a:srgbClr val="5A7A5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29260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5A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availability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77240" y="3273552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3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tutor, day_of_week, start, end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410712" y="2816352"/>
            <a:ext cx="27432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8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10712" y="2816352"/>
            <a:ext cx="73152" cy="960120"/>
          </a:xfrm>
          <a:prstGeom prst="rect">
            <a:avLst/>
          </a:prstGeom>
          <a:solidFill>
            <a:srgbClr val="C97B63"/>
          </a:solidFill>
          <a:ln w="12700">
            <a:solidFill>
              <a:srgbClr val="C97B6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39312" y="29260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5A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639312" y="3273552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3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student, tutor, subject, date, 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72784" y="2816352"/>
            <a:ext cx="27432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8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72784" y="2816352"/>
            <a:ext cx="73152" cy="960120"/>
          </a:xfrm>
          <a:prstGeom prst="rect">
            <a:avLst/>
          </a:prstGeom>
          <a:solidFill>
            <a:srgbClr val="C97B63"/>
          </a:solidFill>
          <a:ln w="12700">
            <a:solidFill>
              <a:srgbClr val="C97B6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01384" y="29260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5A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reviews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501384" y="3273552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3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(UNIQUE), rating 1-5, flagged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48640" y="4023360"/>
            <a:ext cx="5577840" cy="2194560"/>
          </a:xfrm>
          <a:prstGeom prst="roundRect">
            <a:avLst>
              <a:gd name="adj" fmla="val 5000"/>
            </a:avLst>
          </a:prstGeom>
          <a:solidFill>
            <a:srgbClr val="F3EEE5"/>
          </a:solidFill>
          <a:ln w="9525">
            <a:solidFill>
              <a:srgbClr val="E8E2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7240" y="420624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5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Relationships at a glance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68680" y="457200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6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users 1:1 tutor_profiles  (UNIQUE on user_id)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68680" y="488289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6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tutor_profiles M:N subjects  (via junction)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68680" y="5193792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6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tutor_profiles 1:N availability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68680" y="5504688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6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users (as student) 1:N sessions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68680" y="5815584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6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sessions 1:1 reviews  (UNIQUE on session_id)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263640" y="4023360"/>
            <a:ext cx="5577840" cy="2194560"/>
          </a:xfrm>
          <a:prstGeom prst="roundRect">
            <a:avLst>
              <a:gd name="adj" fmla="val 5000"/>
            </a:avLst>
          </a:prstGeom>
          <a:solidFill>
            <a:srgbClr val="F3EEE5"/>
          </a:solidFill>
          <a:ln w="9525">
            <a:solidFill>
              <a:srgbClr val="E8E2D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92240" y="420624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5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design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355080" y="4663440"/>
            <a:ext cx="73152" cy="73152"/>
          </a:xfrm>
          <a:prstGeom prst="ellipse">
            <a:avLst/>
          </a:prstGeom>
          <a:solidFill>
            <a:srgbClr val="C97B63"/>
          </a:solidFill>
          <a:ln w="12700">
            <a:solidFill>
              <a:srgbClr val="C97B6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92240" y="4590288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users table with a role ENUM, not 3 tables — simpler auth, no JOINs on every login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6355080" y="5047488"/>
            <a:ext cx="73152" cy="73152"/>
          </a:xfrm>
          <a:prstGeom prst="ellipse">
            <a:avLst/>
          </a:prstGeom>
          <a:solidFill>
            <a:srgbClr val="C97B63"/>
          </a:solidFill>
          <a:ln w="12700">
            <a:solidFill>
              <a:srgbClr val="C97B6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92240" y="4974336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tutor_profiles separate so non-tutors don't carry empty fields and the 'pending' application is clean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355080" y="5431536"/>
            <a:ext cx="73152" cy="73152"/>
          </a:xfrm>
          <a:prstGeom prst="ellipse">
            <a:avLst/>
          </a:prstGeom>
          <a:solidFill>
            <a:srgbClr val="C97B63"/>
          </a:solidFill>
          <a:ln w="12700">
            <a:solidFill>
              <a:srgbClr val="C97B6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92240" y="5358384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rating computed at query time, not cached — never stale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355080" y="5815584"/>
            <a:ext cx="73152" cy="73152"/>
          </a:xfrm>
          <a:prstGeom prst="ellipse">
            <a:avLst/>
          </a:prstGeom>
          <a:solidFill>
            <a:srgbClr val="C97B63"/>
          </a:solidFill>
          <a:ln w="12700">
            <a:solidFill>
              <a:srgbClr val="C97B6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92240" y="5742432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UNIQUE(reviews.session_id) makes 'one review per session' impossible to bypass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86032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0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7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3D5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Single-port architecture. One Express server, two jobs.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82880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8E2D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9202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22860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3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+ Vite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249631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3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46888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A7A5A"/>
                </a:solidFill>
              </a:rPr>
              <a:t>→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2926080" y="1783080"/>
            <a:ext cx="594360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8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26080" y="1783080"/>
            <a:ext cx="73152" cy="1097280"/>
          </a:xfrm>
          <a:prstGeom prst="rect">
            <a:avLst/>
          </a:prstGeom>
          <a:solidFill>
            <a:srgbClr val="5A7A5A"/>
          </a:solidFill>
          <a:ln w="12700">
            <a:solidFill>
              <a:srgbClr val="5A7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08960" y="1901952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5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:4131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108960" y="2240280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3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20 · express-session · bcrypt · express-validator · mysql2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108960" y="2560320"/>
            <a:ext cx="2743200" cy="274320"/>
          </a:xfrm>
          <a:prstGeom prst="rect">
            <a:avLst/>
          </a:prstGeom>
          <a:solidFill>
            <a:srgbClr val="F3EEE5"/>
          </a:solidFill>
          <a:ln w="12700">
            <a:solidFill>
              <a:srgbClr val="E8E2D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108960" y="2560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6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/api/*  →  JSON routes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89320" y="2560320"/>
            <a:ext cx="2788920" cy="274320"/>
          </a:xfrm>
          <a:prstGeom prst="rect">
            <a:avLst/>
          </a:prstGeom>
          <a:solidFill>
            <a:srgbClr val="F3EEE5"/>
          </a:solidFill>
          <a:ln w="12700">
            <a:solidFill>
              <a:srgbClr val="E8E2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89320" y="256032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6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 →  client/dist (SPA)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96112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A7A5A"/>
                </a:solidFill>
              </a:rPr>
              <a:t>→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9418320" y="1783080"/>
            <a:ext cx="228600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8E2D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18320" y="19202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MariaDB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418320" y="22860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3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tables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418320" y="249631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3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parameterized SQL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" y="34747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6B63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shape?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3886200"/>
            <a:ext cx="3657600" cy="1920240"/>
          </a:xfrm>
          <a:prstGeom prst="roundRect">
            <a:avLst>
              <a:gd name="adj" fmla="val 5714"/>
            </a:avLst>
          </a:prstGeom>
          <a:solidFill>
            <a:srgbClr val="F3EEE5"/>
          </a:solidFill>
          <a:ln w="9525">
            <a:solidFill>
              <a:srgbClr val="E8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2960" y="4114800"/>
            <a:ext cx="365760" cy="365760"/>
          </a:xfrm>
          <a:prstGeom prst="ellipse">
            <a:avLst/>
          </a:prstGeom>
          <a:solidFill>
            <a:srgbClr val="C97B63"/>
          </a:solidFill>
          <a:ln w="12700">
            <a:solidFill>
              <a:srgbClr val="C97B6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4114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325880" y="41148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5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process to manage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22960" y="4572000"/>
            <a:ext cx="32461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3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PM2 keeps a single Node process alive — `pm2 restart tutorconnect`. No second frontend dev server in production.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389120" y="3886200"/>
            <a:ext cx="3657600" cy="1920240"/>
          </a:xfrm>
          <a:prstGeom prst="roundRect">
            <a:avLst>
              <a:gd name="adj" fmla="val 5714"/>
            </a:avLst>
          </a:prstGeom>
          <a:solidFill>
            <a:srgbClr val="F3EEE5"/>
          </a:solidFill>
          <a:ln w="9525">
            <a:solidFill>
              <a:srgbClr val="E8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663440" y="4114800"/>
            <a:ext cx="365760" cy="365760"/>
          </a:xfrm>
          <a:prstGeom prst="ellipse">
            <a:avLst/>
          </a:prstGeom>
          <a:solidFill>
            <a:srgbClr val="C97B63"/>
          </a:solidFill>
          <a:ln w="12700">
            <a:solidFill>
              <a:srgbClr val="C97B6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63440" y="4114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166360" y="41148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5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CORS / no cross-origin cookies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663440" y="4572000"/>
            <a:ext cx="32461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3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Same-origin everywhere. httpOnly session cookie just works.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229600" y="3886200"/>
            <a:ext cx="3657600" cy="1920240"/>
          </a:xfrm>
          <a:prstGeom prst="roundRect">
            <a:avLst>
              <a:gd name="adj" fmla="val 5714"/>
            </a:avLst>
          </a:prstGeom>
          <a:solidFill>
            <a:srgbClr val="F3EEE5"/>
          </a:solidFill>
          <a:ln w="9525">
            <a:solidFill>
              <a:srgbClr val="E8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503920" y="4114800"/>
            <a:ext cx="365760" cy="365760"/>
          </a:xfrm>
          <a:prstGeom prst="ellipse">
            <a:avLst/>
          </a:prstGeom>
          <a:solidFill>
            <a:srgbClr val="C97B63"/>
          </a:solidFill>
          <a:ln w="12700">
            <a:solidFill>
              <a:srgbClr val="C97B6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503920" y="4114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9006840" y="41148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5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Sessions, not JWT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8503920" y="4572000"/>
            <a:ext cx="32461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3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assignment said 'no JWT requirement.' Sessions are simpler, more secure here.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48640" y="5715000"/>
            <a:ext cx="11292840" cy="502920"/>
          </a:xfrm>
          <a:prstGeom prst="roundRect">
            <a:avLst>
              <a:gd name="adj" fmla="val 21818"/>
            </a:avLst>
          </a:prstGeom>
          <a:solidFill>
            <a:srgbClr val="3D5A40"/>
          </a:solidFill>
          <a:ln w="9525">
            <a:solidFill>
              <a:srgbClr val="E8E2D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48640" y="5715000"/>
            <a:ext cx="11292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via PM2 on the Kenyon server (10.192.145.179:4131) · self-hosted GitHub Actions runner for CD 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86032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0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7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API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3D5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~25 endpoints across 8 resource groups.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70332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8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91640"/>
            <a:ext cx="3703320" cy="365760"/>
          </a:xfrm>
          <a:prstGeom prst="rect">
            <a:avLst/>
          </a:prstGeom>
          <a:solidFill>
            <a:srgbClr val="5A7A5A"/>
          </a:solidFill>
          <a:ln w="12700">
            <a:solidFill>
              <a:srgbClr val="5A7A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91640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2148840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6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/api/auth/register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31520" y="2423160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6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/api/auth/login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31520" y="2697480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6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/api/auth/logout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31520" y="2971800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6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 /api/auth/me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31520" y="3246120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6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PATCH /api/auth/me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31520" y="3520440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6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/api/auth/password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416552" y="1691640"/>
            <a:ext cx="370332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8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16552" y="1691640"/>
            <a:ext cx="3703320" cy="365760"/>
          </a:xfrm>
          <a:prstGeom prst="rect">
            <a:avLst/>
          </a:prstGeom>
          <a:solidFill>
            <a:srgbClr val="5A7A5A"/>
          </a:solidFill>
          <a:ln w="12700">
            <a:solidFill>
              <a:srgbClr val="5A7A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99432" y="1691640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99432" y="2148840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6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 /api/tutors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99432" y="2423160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6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 /api/tutors/:id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599432" y="2697480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6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/api/tutors/apply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599432" y="2971800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6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PATCH /api/tutors/:id/status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284464" y="1691640"/>
            <a:ext cx="370332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8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84464" y="1691640"/>
            <a:ext cx="3703320" cy="365760"/>
          </a:xfrm>
          <a:prstGeom prst="rect">
            <a:avLst/>
          </a:prstGeom>
          <a:solidFill>
            <a:srgbClr val="5A7A5A"/>
          </a:solidFill>
          <a:ln w="12700">
            <a:solidFill>
              <a:srgbClr val="5A7A5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67344" y="1691640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467344" y="2148840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6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/api/sessions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467344" y="2423160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6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 /api/sessions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467344" y="2697480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6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 /api/sessions/:id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467344" y="2971800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6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PATCH /api/sessions/:id/status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48640" y="4224528"/>
            <a:ext cx="370332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8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224528"/>
            <a:ext cx="3703320" cy="365760"/>
          </a:xfrm>
          <a:prstGeom prst="rect">
            <a:avLst/>
          </a:prstGeom>
          <a:solidFill>
            <a:srgbClr val="5A7A5A"/>
          </a:solidFill>
          <a:ln w="12700">
            <a:solidFill>
              <a:srgbClr val="5A7A5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4224528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31520" y="4681728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6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/api/reviews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31520" y="4956048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6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 /api/reviews/:tutorId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31520" y="5230368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6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PATCH /api/reviews/:id/flag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416552" y="4224528"/>
            <a:ext cx="370332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8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16552" y="4224528"/>
            <a:ext cx="3703320" cy="365760"/>
          </a:xfrm>
          <a:prstGeom prst="rect">
            <a:avLst/>
          </a:prstGeom>
          <a:solidFill>
            <a:srgbClr val="5A7A5A"/>
          </a:solidFill>
          <a:ln w="12700">
            <a:solidFill>
              <a:srgbClr val="5A7A5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99432" y="4224528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Subjects + Availability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599432" y="4681728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6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 /api/subjects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599432" y="4956048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6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/api/subjects (admin)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599432" y="5230368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6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 /api/availability/:id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599432" y="5504688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6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PUT  /api/availability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8284464" y="4224528"/>
            <a:ext cx="370332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8E2D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284464" y="4224528"/>
            <a:ext cx="3703320" cy="365760"/>
          </a:xfrm>
          <a:prstGeom prst="rect">
            <a:avLst/>
          </a:prstGeom>
          <a:solidFill>
            <a:srgbClr val="5A7A5A"/>
          </a:solidFill>
          <a:ln w="12700">
            <a:solidFill>
              <a:srgbClr val="5A7A5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467344" y="4224528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+ AI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8467344" y="4681728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6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 /api/dashboard/stats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8467344" y="4956048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6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 /api/recommend?subject_id=N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8467344" y="5230368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6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 /api/health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86032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0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7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TESTING &amp; CI/CD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3D5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tests passing. Real DB in CI. PM2 + self-hosted runner.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974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8E2D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783080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5A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731520" y="26060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63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TESTS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290779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3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Vitest + Supertest, real MariaDB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410712" y="1691640"/>
            <a:ext cx="26974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8E2D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93592" y="1783080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5A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5600" dirty="0"/>
          </a:p>
        </p:txBody>
      </p:sp>
      <p:sp>
        <p:nvSpPr>
          <p:cNvPr id="10" name="Text 8"/>
          <p:cNvSpPr/>
          <p:nvPr/>
        </p:nvSpPr>
        <p:spPr>
          <a:xfrm>
            <a:off x="3593592" y="26060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63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TESTS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593592" y="290779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3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Vitest + React Testing Library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72784" y="1691640"/>
            <a:ext cx="26974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8E2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55664" y="1783080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5A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5600" dirty="0"/>
          </a:p>
        </p:txBody>
      </p:sp>
      <p:sp>
        <p:nvSpPr>
          <p:cNvPr id="14" name="Text 12"/>
          <p:cNvSpPr/>
          <p:nvPr/>
        </p:nvSpPr>
        <p:spPr>
          <a:xfrm>
            <a:off x="6455664" y="26060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63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55664" y="290779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3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 on Chromium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134856" y="1691640"/>
            <a:ext cx="26974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8E2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17736" y="1783080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5A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5600" dirty="0"/>
          </a:p>
        </p:txBody>
      </p:sp>
      <p:sp>
        <p:nvSpPr>
          <p:cNvPr id="18" name="Text 16"/>
          <p:cNvSpPr/>
          <p:nvPr/>
        </p:nvSpPr>
        <p:spPr>
          <a:xfrm>
            <a:off x="9317736" y="26060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63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GREEN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317736" y="290779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3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with MariaDB service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3611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6B63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→ CI → CD → Live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4114800"/>
            <a:ext cx="1792224" cy="548640"/>
          </a:xfrm>
          <a:prstGeom prst="roundRect">
            <a:avLst>
              <a:gd name="adj" fmla="val 10000"/>
            </a:avLst>
          </a:prstGeom>
          <a:solidFill>
            <a:srgbClr val="C97B63"/>
          </a:solidFill>
          <a:ln w="12700">
            <a:solidFill>
              <a:srgbClr val="C97B6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4114800"/>
            <a:ext cx="179222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A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 origin main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404872" y="4114800"/>
            <a:ext cx="1792224" cy="548640"/>
          </a:xfrm>
          <a:prstGeom prst="roundRect">
            <a:avLst>
              <a:gd name="adj" fmla="val 10000"/>
            </a:avLst>
          </a:prstGeom>
          <a:solidFill>
            <a:srgbClr val="8AA68A"/>
          </a:solidFill>
          <a:ln w="12700">
            <a:solidFill>
              <a:srgbClr val="8AA68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404872" y="4114800"/>
            <a:ext cx="179222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A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CI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261104" y="4114800"/>
            <a:ext cx="1792224" cy="548640"/>
          </a:xfrm>
          <a:prstGeom prst="roundRect">
            <a:avLst>
              <a:gd name="adj" fmla="val 10000"/>
            </a:avLst>
          </a:prstGeom>
          <a:solidFill>
            <a:srgbClr val="8AA68A"/>
          </a:solidFill>
          <a:ln w="12700">
            <a:solidFill>
              <a:srgbClr val="8AA68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261104" y="4114800"/>
            <a:ext cx="179222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A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MariaDB service container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17336" y="4114800"/>
            <a:ext cx="1792224" cy="548640"/>
          </a:xfrm>
          <a:prstGeom prst="roundRect">
            <a:avLst>
              <a:gd name="adj" fmla="val 10000"/>
            </a:avLst>
          </a:prstGeom>
          <a:solidFill>
            <a:srgbClr val="5A7A5A"/>
          </a:solidFill>
          <a:ln w="12700">
            <a:solidFill>
              <a:srgbClr val="5A7A5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17336" y="4114800"/>
            <a:ext cx="179222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Vitest + Playwright run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973568" y="4114800"/>
            <a:ext cx="1792224" cy="548640"/>
          </a:xfrm>
          <a:prstGeom prst="roundRect">
            <a:avLst>
              <a:gd name="adj" fmla="val 10000"/>
            </a:avLst>
          </a:prstGeom>
          <a:solidFill>
            <a:srgbClr val="5A7A5A"/>
          </a:solidFill>
          <a:ln w="12700">
            <a:solidFill>
              <a:srgbClr val="5A7A5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973568" y="4114800"/>
            <a:ext cx="179222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runner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9829800" y="4114800"/>
            <a:ext cx="1792224" cy="548640"/>
          </a:xfrm>
          <a:prstGeom prst="roundRect">
            <a:avLst>
              <a:gd name="adj" fmla="val 10000"/>
            </a:avLst>
          </a:prstGeom>
          <a:solidFill>
            <a:srgbClr val="3D5A40"/>
          </a:solidFill>
          <a:ln w="12700">
            <a:solidFill>
              <a:srgbClr val="3D5A4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829800" y="4114800"/>
            <a:ext cx="179222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deploy.sh + pm2 restart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48640" y="5029200"/>
            <a:ext cx="11292840" cy="1280160"/>
          </a:xfrm>
          <a:prstGeom prst="roundRect">
            <a:avLst>
              <a:gd name="adj" fmla="val 8571"/>
            </a:avLst>
          </a:prstGeom>
          <a:solidFill>
            <a:srgbClr val="F3EEE5"/>
          </a:solidFill>
          <a:ln w="9525">
            <a:solidFill>
              <a:srgbClr val="E8E2D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77240" y="5166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5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actually pin down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841248" y="5532120"/>
            <a:ext cx="73152" cy="73152"/>
          </a:xfrm>
          <a:prstGeom prst="ellipse">
            <a:avLst/>
          </a:prstGeom>
          <a:solidFill>
            <a:srgbClr val="C97B63"/>
          </a:solidFill>
          <a:ln w="12700">
            <a:solidFill>
              <a:srgbClr val="C97B6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05840" y="544068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/api/auth/me never leaks password_hash · login validates · session persists across requests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841248" y="5715000"/>
            <a:ext cx="73152" cy="73152"/>
          </a:xfrm>
          <a:prstGeom prst="ellipse">
            <a:avLst/>
          </a:prstGeom>
          <a:solidFill>
            <a:srgbClr val="C97B63"/>
          </a:solidFill>
          <a:ln w="12700">
            <a:solidFill>
              <a:srgbClr val="C97B6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05840" y="562356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 application workflow: apply → admin approves → role flips to 'tutor' → shows up in public list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41248" y="5897880"/>
            <a:ext cx="73152" cy="73152"/>
          </a:xfrm>
          <a:prstGeom prst="ellipse">
            <a:avLst/>
          </a:prstGeom>
          <a:solidFill>
            <a:srgbClr val="C97B63"/>
          </a:solidFill>
          <a:ln w="12700">
            <a:solidFill>
              <a:srgbClr val="C97B6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05840" y="58064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Booking: rejects past dates, end &lt; start, time outside availability, can't book yourself, conflict = 409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841248" y="6080760"/>
            <a:ext cx="73152" cy="73152"/>
          </a:xfrm>
          <a:prstGeom prst="ellipse">
            <a:avLst/>
          </a:prstGeom>
          <a:solidFill>
            <a:srgbClr val="C97B63"/>
          </a:solidFill>
          <a:ln w="12700">
            <a:solidFill>
              <a:srgbClr val="C97B6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5840" y="59893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machine: only tutor can confirm/complete · terminal states reject further transitions · review only after completed, one per session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86032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0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7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USE OF AI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3D5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 a tool at the points the class structured for it.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63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ASSIGNMENT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520440" y="173736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63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 USED AI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498080" y="173736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63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CHANGED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057400"/>
            <a:ext cx="11292840" cy="0"/>
          </a:xfrm>
          <a:prstGeom prst="line">
            <a:avLst/>
          </a:prstGeom>
          <a:noFill/>
          <a:ln w="12700">
            <a:solidFill>
              <a:srgbClr val="E8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11292840" cy="868680"/>
          </a:xfrm>
          <a:prstGeom prst="rect">
            <a:avLst/>
          </a:prstGeom>
          <a:solidFill>
            <a:srgbClr val="F3EEE5"/>
          </a:solidFill>
          <a:ln w="12700">
            <a:solidFill>
              <a:srgbClr val="F3EE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286000"/>
            <a:ext cx="28346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D5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Data Model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520440" y="2286000"/>
            <a:ext cx="3794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Drafted DDL from my entity list — ENUMs, FKs, ON DELETE behavior, indexes.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498080" y="2286000"/>
            <a:ext cx="44348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flagged index. Removed cached avg_rating column. Added CHECK (rating BETWEEN 1 AND 5). Sized password_hash safely.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48640" y="3154680"/>
            <a:ext cx="28346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D5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API Design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0440" y="3154680"/>
            <a:ext cx="3794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Drafted 24 endpoints from the data model + example req/res JSON.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498080" y="3154680"/>
            <a:ext cx="44348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to 21 endpoints — removed unnecessary DELETEs. Standardized snake_case. Renamed POST /tutor-applications → /tutors/apply.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8640" y="3931920"/>
            <a:ext cx="11292840" cy="868680"/>
          </a:xfrm>
          <a:prstGeom prst="rect">
            <a:avLst/>
          </a:prstGeom>
          <a:solidFill>
            <a:srgbClr val="F3EEE5"/>
          </a:solidFill>
          <a:ln w="12700">
            <a:solidFill>
              <a:srgbClr val="F3EE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023360"/>
            <a:ext cx="28346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D5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Scaffold-App-with-AI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520440" y="4023360"/>
            <a:ext cx="3794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the slide's prompt to generate the project skeleton (Vite + Express + single-port).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498080" y="4023360"/>
            <a:ext cx="44348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Hand-wrote all routes, middleware, React pages, queries afterward.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48640" y="4892040"/>
            <a:ext cx="28346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D5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boilerplate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520440" y="4892040"/>
            <a:ext cx="3794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Drafted route file structures from endpoint descriptions.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498080" y="4892040"/>
            <a:ext cx="44348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every line. Integrated the project's existing validation chain, error handling, middleware patterns.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5852160"/>
            <a:ext cx="11292840" cy="384048"/>
          </a:xfrm>
          <a:prstGeom prst="roundRect">
            <a:avLst>
              <a:gd name="adj" fmla="val 28571"/>
            </a:avLst>
          </a:prstGeom>
          <a:solidFill>
            <a:srgbClr val="3D5A40"/>
          </a:solidFill>
          <a:ln w="9525">
            <a:solidFill>
              <a:srgbClr val="E8E2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5852160"/>
            <a:ext cx="11292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architectural decision (sessions vs JWT, single-port, schema, state machine) was mine.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86032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0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7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USE OF AI · CONTINUED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3D5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AI was wrong, and how I caught it.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2928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8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56232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A85E48"/>
          </a:solidFill>
          <a:ln w="12700">
            <a:solidFill>
              <a:srgbClr val="A85E4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856232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377440" y="18288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5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Leaked password_hash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377440" y="2103120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/api/auth/me returned the entire user row — bcrypt hash and all. Caught on review. Added a sanitize(user) helper. Pinned it with a test.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651760"/>
            <a:ext cx="112928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8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2816352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A85E48"/>
          </a:solidFill>
          <a:ln w="12700">
            <a:solidFill>
              <a:srgbClr val="A85E4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816352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377440" y="27889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5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string interpolation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377440" y="3063240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of /api/reviews used `${id}` directly in the WHERE clause. Switched to parameterized `?`. Class proposal called this out as a security requirement.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611880"/>
            <a:ext cx="112928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8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3776472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6B6357"/>
          </a:solidFill>
          <a:ln w="12700">
            <a:solidFill>
              <a:srgbClr val="6B635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3776472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TOOLING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377440" y="37490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5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ESM in a CommonJS project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377440" y="4023360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Vitest tests used import syntax even though my server is type:'commonjs'. Renamed test files to .mjs and used createRequire to bridge.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572000"/>
            <a:ext cx="112928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8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4736592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5A7A5A"/>
          </a:solidFill>
          <a:ln w="12700">
            <a:solidFill>
              <a:srgbClr val="5A7A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4736592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377440" y="47091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5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Playwright query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377440" y="4983480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used getByLabel("Email") — but react-bootstrap's Form.Group doesn't auto-link Form.Label to Form.Control. Switched to getByPlaceholder.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5532120"/>
            <a:ext cx="112928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8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77240" y="5696712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5A7A5A"/>
          </a:solidFill>
          <a:ln w="12700">
            <a:solidFill>
              <a:srgbClr val="5A7A5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5696712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377440" y="5669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5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/api/recommend had no fallback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377440" y="5943600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version 500'd if OPENAI_API_KEY wasn't set. Added a deterministic ranking (rating × 2 + log(sessions+1) + min(2, slot_count × 0.2)) — feature works without an API key.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48640" y="6263640"/>
            <a:ext cx="11292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63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 checked AI's output: browser preview after every change · curl/Supertest smoke tests at every backend milestone · 64 automated tests in CI.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86032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0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7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LESSONS LEARNED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3D5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7 weeks of this stack taught me.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70332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8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91640"/>
            <a:ext cx="3703320" cy="365760"/>
          </a:xfrm>
          <a:prstGeom prst="rect">
            <a:avLst/>
          </a:prstGeom>
          <a:solidFill>
            <a:srgbClr val="5A7A5A"/>
          </a:solidFill>
          <a:ln w="12700">
            <a:solidFill>
              <a:srgbClr val="5A7A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91640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194560"/>
            <a:ext cx="333756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A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components small. Lift shared concerns into context (AuthContext, ToastProvider) — prop drilling falls apart fast in role-aware UIs.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416552" y="1691640"/>
            <a:ext cx="370332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8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16552" y="1691640"/>
            <a:ext cx="3703320" cy="365760"/>
          </a:xfrm>
          <a:prstGeom prst="rect">
            <a:avLst/>
          </a:prstGeom>
          <a:solidFill>
            <a:srgbClr val="5A7A5A"/>
          </a:solidFill>
          <a:ln w="12700">
            <a:solidFill>
              <a:srgbClr val="5A7A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99432" y="1691640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99432" y="2194560"/>
            <a:ext cx="333756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A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5's path-to-regexp is a real change. My catch-all `/.*/` regex silently swallowed `/api/health`. Plain `app.use('/api', 404)` is clearer and survives upgrades.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284464" y="1691640"/>
            <a:ext cx="370332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8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84464" y="1691640"/>
            <a:ext cx="3703320" cy="365760"/>
          </a:xfrm>
          <a:prstGeom prst="rect">
            <a:avLst/>
          </a:prstGeom>
          <a:solidFill>
            <a:srgbClr val="C97B63"/>
          </a:solidFill>
          <a:ln w="12700">
            <a:solidFill>
              <a:srgbClr val="C97B6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67344" y="1691640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MARIADB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467344" y="2194560"/>
            <a:ext cx="333756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A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columns come back as 'HH:MM:SS' but inputs are 'HH:MM'. Strict string comparison silently failed. Catching it required normalization helpers + a regression test.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050792"/>
            <a:ext cx="370332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8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050792"/>
            <a:ext cx="3703320" cy="365760"/>
          </a:xfrm>
          <a:prstGeom prst="rect">
            <a:avLst/>
          </a:prstGeom>
          <a:solidFill>
            <a:srgbClr val="8AA68A"/>
          </a:solidFill>
          <a:ln w="12700">
            <a:solidFill>
              <a:srgbClr val="8AA68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4050792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DESIGN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4553712"/>
            <a:ext cx="333756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A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Designing endpoints before writing them — what the AI-Assisted API Design assignment forced me to do — was the single biggest time saver.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416552" y="4050792"/>
            <a:ext cx="370332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8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416552" y="4050792"/>
            <a:ext cx="3703320" cy="365760"/>
          </a:xfrm>
          <a:prstGeom prst="rect">
            <a:avLst/>
          </a:prstGeom>
          <a:solidFill>
            <a:srgbClr val="5A7A5A"/>
          </a:solidFill>
          <a:ln w="12700">
            <a:solidFill>
              <a:srgbClr val="5A7A5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99432" y="4050792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99432" y="4553712"/>
            <a:ext cx="333756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A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over JWT for same-origin apps. httpOnly cookies, no XSS exposure of tokens, simpler logout. Sanitize the user object on every response.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284464" y="4050792"/>
            <a:ext cx="370332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8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84464" y="4050792"/>
            <a:ext cx="3703320" cy="365760"/>
          </a:xfrm>
          <a:prstGeom prst="rect">
            <a:avLst/>
          </a:prstGeom>
          <a:solidFill>
            <a:srgbClr val="3D5A40"/>
          </a:solidFill>
          <a:ln w="12700">
            <a:solidFill>
              <a:srgbClr val="3D5A4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67344" y="4050792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467344" y="4553712"/>
            <a:ext cx="333756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A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MariaDB service container in CI catches the bugs mocks hide — like the TIME normalization issue. Self-hosted runner + PM2 covers the firewalled-server case.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86032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0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7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LESSONS LEARNED · CONTINUED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3D5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working with AI taught me.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2928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8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92808"/>
            <a:ext cx="457200" cy="457200"/>
          </a:xfrm>
          <a:prstGeom prst="ellipse">
            <a:avLst/>
          </a:prstGeom>
          <a:solidFill>
            <a:srgbClr val="C97B63"/>
          </a:solidFill>
          <a:ln w="12700">
            <a:solidFill>
              <a:srgbClr val="C97B6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8928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8288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5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 the prompt before generating code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417320" y="210312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 told AI 'Express 5, mysql2, express-session, no JWT, single-port' up front, output stayed in scope. When I left it vague, it invented Knex, JWT middleware, separate dev servers.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651760"/>
            <a:ext cx="112928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8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2852928"/>
            <a:ext cx="457200" cy="457200"/>
          </a:xfrm>
          <a:prstGeom prst="ellipse">
            <a:avLst/>
          </a:prstGeom>
          <a:solidFill>
            <a:srgbClr val="C97B63"/>
          </a:solidFill>
          <a:ln w="12700">
            <a:solidFill>
              <a:srgbClr val="C97B6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8529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417320" y="27889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5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first, code second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1417320" y="306324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AI-Assisted Data Model and API Design assignments paid back in the implementation phase. The week spent on schema + endpoints made coding faster, not slower.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611880"/>
            <a:ext cx="112928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8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3813048"/>
            <a:ext cx="457200" cy="457200"/>
          </a:xfrm>
          <a:prstGeom prst="ellipse">
            <a:avLst/>
          </a:prstGeom>
          <a:solidFill>
            <a:srgbClr val="C97B63"/>
          </a:solidFill>
          <a:ln w="12700">
            <a:solidFill>
              <a:srgbClr val="C97B6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38130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417320" y="37490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5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every line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417320" y="402336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bug on the previous slide was caught only because I reviewed the code, not because AI flagged it. AI follows the path of least resistance — always 'spread the row into the response,' always interpolate `${id}` into SQL.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572000"/>
            <a:ext cx="112928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8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4773168"/>
            <a:ext cx="457200" cy="457200"/>
          </a:xfrm>
          <a:prstGeom prst="ellipse">
            <a:avLst/>
          </a:prstGeom>
          <a:solidFill>
            <a:srgbClr val="C97B63"/>
          </a:solidFill>
          <a:ln w="12700">
            <a:solidFill>
              <a:srgbClr val="C97B6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47731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17320" y="470916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5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how you trust the AI on the next change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417320" y="498348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regression test on the auth response shape would have caught the password_hash leak the moment it appeared. Tests pin down what I learned the hard way.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5532120"/>
            <a:ext cx="112928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8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77240" y="5733288"/>
            <a:ext cx="457200" cy="457200"/>
          </a:xfrm>
          <a:prstGeom prst="ellipse">
            <a:avLst/>
          </a:prstGeom>
          <a:solidFill>
            <a:srgbClr val="C97B63"/>
          </a:solidFill>
          <a:ln w="12700">
            <a:solidFill>
              <a:srgbClr val="C97B6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57332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417320" y="56692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5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am the engineer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1417320" y="594360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one tool in the kit alongside docs, Stack Overflow, and the React-Bootstrap source. The decisions are mine. The work I am graded on is my work.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86032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0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3D5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5A7A5A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0"/>
            <a:ext cx="54864" cy="6858000"/>
          </a:xfrm>
          <a:prstGeom prst="rect">
            <a:avLst/>
          </a:prstGeom>
          <a:solidFill>
            <a:srgbClr val="C97B63"/>
          </a:solidFill>
          <a:ln w="12700">
            <a:solidFill>
              <a:srgbClr val="C97B6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0972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C97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097280" y="155448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spc="-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me show you the running app.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1097280" y="31089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3EE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PATH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097280" y="3502152"/>
            <a:ext cx="365760" cy="365760"/>
          </a:xfrm>
          <a:prstGeom prst="ellipse">
            <a:avLst/>
          </a:prstGeom>
          <a:solidFill>
            <a:srgbClr val="C97B63"/>
          </a:solidFill>
          <a:ln w="12700">
            <a:solidFill>
              <a:srgbClr val="C97B6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350215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691640" y="3474720"/>
            <a:ext cx="9875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as Alex (student) → student dashboard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97280" y="3959352"/>
            <a:ext cx="365760" cy="365760"/>
          </a:xfrm>
          <a:prstGeom prst="ellipse">
            <a:avLst/>
          </a:prstGeom>
          <a:solidFill>
            <a:srgbClr val="C97B63"/>
          </a:solidFill>
          <a:ln w="12700">
            <a:solidFill>
              <a:srgbClr val="C97B6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395935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691640" y="3931920"/>
            <a:ext cx="9875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 Tutor → filter Calculus → Marcus's profile → Request session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097280" y="4416552"/>
            <a:ext cx="365760" cy="365760"/>
          </a:xfrm>
          <a:prstGeom prst="ellipse">
            <a:avLst/>
          </a:prstGeom>
          <a:solidFill>
            <a:srgbClr val="C97B63"/>
          </a:solidFill>
          <a:ln w="12700">
            <a:solidFill>
              <a:srgbClr val="C97B6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97280" y="441655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691640" y="4389120"/>
            <a:ext cx="9875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Jane (tutor) → confirm pending request → mark completed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1097280" y="4873752"/>
            <a:ext cx="365760" cy="365760"/>
          </a:xfrm>
          <a:prstGeom prst="ellipse">
            <a:avLst/>
          </a:prstGeom>
          <a:solidFill>
            <a:srgbClr val="C97B63"/>
          </a:solidFill>
          <a:ln w="12700">
            <a:solidFill>
              <a:srgbClr val="C97B6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87375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691640" y="4846320"/>
            <a:ext cx="9875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back to Alex → leave a 5-star review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1097280" y="5330952"/>
            <a:ext cx="365760" cy="365760"/>
          </a:xfrm>
          <a:prstGeom prst="ellipse">
            <a:avLst/>
          </a:prstGeom>
          <a:solidFill>
            <a:srgbClr val="C97B63"/>
          </a:solidFill>
          <a:ln w="12700">
            <a:solidFill>
              <a:srgbClr val="C97B6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533095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691640" y="5303520"/>
            <a:ext cx="9875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admin → review appears in moderation queue · approve Ravi's pending application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972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EE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http://10.192.145.179:4131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0"/>
            <a:ext cx="5330952" cy="6858000"/>
          </a:xfrm>
          <a:prstGeom prst="rect">
            <a:avLst/>
          </a:prstGeom>
          <a:solidFill>
            <a:srgbClr val="3D5A40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0"/>
            <a:ext cx="54864" cy="6858000"/>
          </a:xfrm>
          <a:prstGeom prst="rect">
            <a:avLst/>
          </a:prstGeom>
          <a:solidFill>
            <a:srgbClr val="C97B63"/>
          </a:solidFill>
          <a:ln w="12700">
            <a:solidFill>
              <a:srgbClr val="C97B6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19456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spc="-200" kern="0" dirty="0">
                <a:solidFill>
                  <a:srgbClr val="3D5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you.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548640" y="338328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C97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61264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3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Calvin Deka · COMP 318 · May 5, 2026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0" y="237744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7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0" y="283464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A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0" y="3090672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10.192.145.179:4131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0" y="34747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A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0" y="3730752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github.com/calvindeka/TutorConnect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0" y="41148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A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315200" y="4370832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github.com/calvindeka/TutorConnect/actions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0" y="475488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A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315200" y="5010912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 · ARCHITECTURE · CHANGELOG · CD_SETUP · MOODLE_SUBMISSION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TutorConnect — Final Project Presentation</dc:title>
  <dc:subject>PptxGenJS Presentation</dc:subject>
  <dc:creator>Calvin Deka</dc:creator>
  <cp:lastModifiedBy>Calvin Deka</cp:lastModifiedBy>
  <cp:revision>1</cp:revision>
  <dcterms:created xsi:type="dcterms:W3CDTF">2026-05-04T19:41:41Z</dcterms:created>
  <dcterms:modified xsi:type="dcterms:W3CDTF">2026-05-04T19:41:41Z</dcterms:modified>
</cp:coreProperties>
</file>