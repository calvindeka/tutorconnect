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C_MASTER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64592" cy="164592"/>
          </a:xfrm>
          <a:prstGeom prst="rect">
            <a:avLst/>
          </a:prstGeom>
          <a:solidFill>
            <a:srgbClr val="3D5A4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-100" kern="0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TutorConnect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318 · Final Project · Calvin Deka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46520"/>
            <a:ext cx="4507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10.192.145.179:4131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5A7A5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54864" cy="6858000"/>
          </a:xfrm>
          <a:prstGeom prst="rect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188720"/>
            <a:ext cx="502920" cy="502920"/>
          </a:xfrm>
          <a:prstGeom prst="rect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TutorConnect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 tutoring platform for Kenyon students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 Deka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5303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318 · Software Development · Spring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5577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· May 5,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0" y="5486400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5486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10.192.145.179:4131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students who need help with peer tutors who can give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tutor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subject, day, rating. Only approved tutors appear.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1031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2377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session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tutor confirms → completes. Conflict + availability checked.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21031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377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D5A40"/>
          </a:solidFill>
          <a:ln w="12700">
            <a:solidFill>
              <a:srgbClr val="3D5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95360" y="3017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the experience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536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drive tutor quality. Admins moderate flagged content.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three roles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6357"/>
          </a:solidFill>
          <a:ln w="12700">
            <a:solidFill>
              <a:srgbClr val="6B63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tutors, book, 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48463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set availability, accept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321040" y="484632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846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8408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moderate, see stats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the MSSC and Writing Center — scheduled, by-name peer tutoring across every subject, every hour.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workflows, all working.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lifecycle (the heart of the app)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rgbClr val="8AA68A"/>
          </a:solidFill>
          <a:ln w="12700">
            <a:solidFill>
              <a:srgbClr val="8AA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searches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3042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subject, day, rating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70048" y="21671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44368" y="192024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81528" y="2057400"/>
            <a:ext cx="365760" cy="365760"/>
          </a:xfrm>
          <a:prstGeom prst="ellipse">
            <a:avLst/>
          </a:prstGeom>
          <a:solidFill>
            <a:srgbClr val="8AA68A"/>
          </a:solidFill>
          <a:ln w="12700">
            <a:solidFill>
              <a:srgbClr val="8AA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8728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session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38728" y="23042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tutor availability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65776" y="21671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40096" y="192024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77256" y="2057400"/>
            <a:ext cx="365760" cy="365760"/>
          </a:xfrm>
          <a:prstGeom prst="ellipse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725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34456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confirms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34456" y="23042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declines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61504" y="21671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735824" y="192024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72984" y="2057400"/>
            <a:ext cx="365760" cy="365760"/>
          </a:xfrm>
          <a:prstGeom prst="ellipse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2984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30184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30184" y="23042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session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857232" y="216712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131552" y="192024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68712" y="2057400"/>
            <a:ext cx="365760" cy="36576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68712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725912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reviews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725912" y="23042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stars + comment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291840"/>
            <a:ext cx="5577840" cy="2468880"/>
          </a:xfrm>
          <a:prstGeom prst="roundRect">
            <a:avLst>
              <a:gd name="adj" fmla="val 4444"/>
            </a:avLst>
          </a:prstGeom>
          <a:solidFill>
            <a:srgbClr val="F3EEE5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474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enforced server-side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68680" y="3931920"/>
            <a:ext cx="91440" cy="91440"/>
          </a:xfrm>
          <a:prstGeom prst="ellipse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requested → confirmed → completed/cancelled — only valid transitions, only by the right actor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" y="4389120"/>
            <a:ext cx="91440" cy="91440"/>
          </a:xfrm>
          <a:prstGeom prst="ellipse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" y="4297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fit: requested time must fall fully inside one of the tutor's weekly slots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68680" y="4846320"/>
            <a:ext cx="91440" cy="91440"/>
          </a:xfrm>
          <a:prstGeom prst="ellipse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4754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detection: rejects 409 if any other active session overlaps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8680" y="5303520"/>
            <a:ext cx="91440" cy="91440"/>
          </a:xfrm>
          <a:prstGeom prst="ellipse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guards: only the student in the session, only after completed, one review per session (DB UNIQUE)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3291840"/>
            <a:ext cx="5577840" cy="2468880"/>
          </a:xfrm>
          <a:prstGeom prst="roundRect">
            <a:avLst>
              <a:gd name="adj" fmla="val 4444"/>
            </a:avLst>
          </a:prstGeom>
          <a:solidFill>
            <a:srgbClr val="F3EEE5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3474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0" y="3931920"/>
            <a:ext cx="91440" cy="9144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3840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 (express-session). Bcrypt password hashing. Sanitized /me — never leaks password_hash.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83680" y="4389120"/>
            <a:ext cx="91440" cy="9144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4297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middleware: requireAuth + requireRole('admin'). Returns 401/403 cleanly.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83680" y="4846320"/>
            <a:ext cx="91440" cy="9144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754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can only edit their own profile; students can only review sessions they attended.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83680" y="5303520"/>
            <a:ext cx="91440" cy="9144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parameterized; input validated with express-validator.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DATABASE SCHEMA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tables, normalized, FK-constrained, indexed.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96012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email, password_hash, name, role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10712" y="169164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1691640"/>
            <a:ext cx="73152" cy="96012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tutor_profiles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39312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(UNIQUE), bio, status, gpa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2784" y="169164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691640"/>
            <a:ext cx="73152" cy="960120"/>
          </a:xfrm>
          <a:prstGeom prst="rect">
            <a:avLst/>
          </a:prstGeom>
          <a:solidFill>
            <a:srgbClr val="8AA68A"/>
          </a:solidFill>
          <a:ln w="12700">
            <a:solidFill>
              <a:srgbClr val="8AA6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1384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1384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 (UNIQUE), category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34856" y="169164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4856" y="1691640"/>
            <a:ext cx="73152" cy="960120"/>
          </a:xfrm>
          <a:prstGeom prst="rect">
            <a:avLst/>
          </a:prstGeom>
          <a:solidFill>
            <a:srgbClr val="8AA68A"/>
          </a:solidFill>
          <a:ln w="12700">
            <a:solidFill>
              <a:srgbClr val="8AA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1801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tutor_subjects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63456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junction tutor ↔ subject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16352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816352"/>
            <a:ext cx="73152" cy="96012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273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tutor, day_of_week, start, 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2816352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10712" y="2816352"/>
            <a:ext cx="73152" cy="960120"/>
          </a:xfrm>
          <a:prstGeom prst="rect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3273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tutor, subject, date, status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72784" y="2816352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2784" y="2816352"/>
            <a:ext cx="73152" cy="960120"/>
          </a:xfrm>
          <a:prstGeom prst="rect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01384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5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01384" y="32735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(UNIQUE), rating 1-5, flagged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02336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F3EEE5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206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at a glance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" y="4572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1:1 tutor_profiles  (UNIQUE on user_id)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48828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tutor_profiles M:N subjects  (via junction)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5193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tutor_profiles 1:N availability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" y="55046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(as student) 1:N sessions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8680" y="581558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 1:1 reviews  (UNIQUE on session_id)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402336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F3EEE5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4206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55080" y="4663440"/>
            <a:ext cx="73152" cy="73152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45902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users table with a role ENUM, not 3 tables — simpler auth, no JOINs on every login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55080" y="5047488"/>
            <a:ext cx="73152" cy="73152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49743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tutor_profiles separate so non-tutors don't carry empty fields and the 'pending' application is clean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55080" y="5431536"/>
            <a:ext cx="73152" cy="73152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53583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computed at query time, not cached — never stale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55080" y="5815584"/>
            <a:ext cx="73152" cy="73152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57424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UNIQUE(reviews.session_id) makes 'one review per session' impossible to bypass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Single-port architecture. One Express server, two jobs.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7A5A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926080" y="1783080"/>
            <a:ext cx="5943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783080"/>
            <a:ext cx="73152" cy="109728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9019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:4131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240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· express-session · bcrypt · express-validator · mysql2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2560320"/>
            <a:ext cx="2743200" cy="274320"/>
          </a:xfrm>
          <a:prstGeom prst="rect">
            <a:avLst/>
          </a:prstGeom>
          <a:solidFill>
            <a:srgbClr val="F3EEE5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/api/*  →  JSON routes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2560320"/>
            <a:ext cx="2788920" cy="274320"/>
          </a:xfrm>
          <a:prstGeom prst="rect">
            <a:avLst/>
          </a:prstGeom>
          <a:solidFill>
            <a:srgbClr val="F3EEE5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560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 →  client/dist (SPA)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7A5A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418320" y="178308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0" y="24963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shape?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3EEE5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4114800"/>
            <a:ext cx="365760" cy="36576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to manage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5720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keeps a single Node process alive — `pm2 restart tutorconnect`. No second frontend dev server in production.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38862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3EEE5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4114800"/>
            <a:ext cx="365760" cy="36576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CORS / no cross-origin cookies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45720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everywhere. httpOnly session cookie just works.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38862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3EEE5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4114800"/>
            <a:ext cx="365760" cy="36576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0684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not JWT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03920" y="45720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assignment said 'no JWT requirement.' Sessions are simpler, more secure here.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715000"/>
            <a:ext cx="11292840" cy="502920"/>
          </a:xfrm>
          <a:prstGeom prst="roundRect">
            <a:avLst>
              <a:gd name="adj" fmla="val 21818"/>
            </a:avLst>
          </a:prstGeom>
          <a:solidFill>
            <a:srgbClr val="3D5A40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715000"/>
            <a:ext cx="11292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PM2 on the Kenyon server (10.192.145.179:4131) · self-hosted GitHub Actions runner for CD 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endpoints across 8 resource groups.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703320" cy="36576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/api/auth/logout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/api/auth/me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/api/auth/me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/api/auth/password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16552" y="169164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6552" y="1691640"/>
            <a:ext cx="3703320" cy="36576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2148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/api/tutors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99432" y="2423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/api/tutors/:id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9432" y="26974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/api/tutors/apply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99432" y="29718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/api/tutors/:id/status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84464" y="1691640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4464" y="1691640"/>
            <a:ext cx="3703320" cy="36576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67344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67344" y="21488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/api/sessions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67344" y="24231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/api/sessions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67344" y="26974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/api/sessions/:id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67344" y="29718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/api/sessions/:id/status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224528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224528"/>
            <a:ext cx="3703320" cy="36576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2245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46817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/api/reviews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49560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/api/reviews/:tutorId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52303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/api/reviews/:id/flag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16552" y="4224528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16552" y="4224528"/>
            <a:ext cx="3703320" cy="36576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42245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+ Availability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99432" y="46817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/api/subjects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99432" y="49560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/api/subjects (admin)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99432" y="52303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/api/availability/:id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99432" y="55046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/api/availability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84464" y="4224528"/>
            <a:ext cx="37033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84464" y="4224528"/>
            <a:ext cx="3703320" cy="36576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67344" y="42245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AI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67344" y="468172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/api/dashboard/stats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467344" y="49560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/api/recommend?subject_id=N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467344" y="52303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/api/health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TESTING &amp;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tests passing. Real DB in CI. PM2 + self-hosted runner.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Supertest, real MariaDB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691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593592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93592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React Testing Library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691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455664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55664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on Chromium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1691640"/>
            <a:ext cx="2697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783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5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9317736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GREEN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17736" y="2907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with MariaDB service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CI → CD → Live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792224" cy="548640"/>
          </a:xfrm>
          <a:prstGeom prst="roundRect">
            <a:avLst>
              <a:gd name="adj" fmla="val 10000"/>
            </a:avLst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1480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main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04872" y="4114800"/>
            <a:ext cx="1792224" cy="548640"/>
          </a:xfrm>
          <a:prstGeom prst="roundRect">
            <a:avLst>
              <a:gd name="adj" fmla="val 10000"/>
            </a:avLst>
          </a:prstGeom>
          <a:solidFill>
            <a:srgbClr val="8AA68A"/>
          </a:solidFill>
          <a:ln w="12700">
            <a:solidFill>
              <a:srgbClr val="8AA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04872" y="411480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61104" y="4114800"/>
            <a:ext cx="1792224" cy="548640"/>
          </a:xfrm>
          <a:prstGeom prst="roundRect">
            <a:avLst>
              <a:gd name="adj" fmla="val 10000"/>
            </a:avLst>
          </a:prstGeom>
          <a:solidFill>
            <a:srgbClr val="8AA68A"/>
          </a:solidFill>
          <a:ln w="12700">
            <a:solidFill>
              <a:srgbClr val="8AA6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61104" y="411480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service container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17336" y="4114800"/>
            <a:ext cx="1792224" cy="548640"/>
          </a:xfrm>
          <a:prstGeom prst="roundRect">
            <a:avLst>
              <a:gd name="adj" fmla="val 10000"/>
            </a:avLst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411480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Playwright run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73568" y="4114800"/>
            <a:ext cx="1792224" cy="548640"/>
          </a:xfrm>
          <a:prstGeom prst="roundRect">
            <a:avLst>
              <a:gd name="adj" fmla="val 10000"/>
            </a:avLst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73568" y="411480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runner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829800" y="4114800"/>
            <a:ext cx="1792224" cy="548640"/>
          </a:xfrm>
          <a:prstGeom prst="roundRect">
            <a:avLst>
              <a:gd name="adj" fmla="val 10000"/>
            </a:avLst>
          </a:prstGeom>
          <a:solidFill>
            <a:srgbClr val="3D5A40"/>
          </a:solidFill>
          <a:ln w="12700">
            <a:solidFill>
              <a:srgbClr val="3D5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29800" y="411480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deploy.sh + pm2 restart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029200"/>
            <a:ext cx="11292840" cy="1280160"/>
          </a:xfrm>
          <a:prstGeom prst="roundRect">
            <a:avLst>
              <a:gd name="adj" fmla="val 8571"/>
            </a:avLst>
          </a:prstGeom>
          <a:solidFill>
            <a:srgbClr val="F3EEE5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tests actually pin down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1248" y="5532120"/>
            <a:ext cx="73152" cy="73152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" y="54406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/api/auth/me never leaks password_hash · login validates · session persists across requests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1248" y="5715000"/>
            <a:ext cx="73152" cy="73152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56235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application workflow: apply → admin approves → role flips to 'tutor' → shows up in public list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1248" y="5897880"/>
            <a:ext cx="73152" cy="73152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58064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Booking: rejects past dates, end &lt; start, time outside availability, can't book yourself, conflict = 409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41248" y="6080760"/>
            <a:ext cx="73152" cy="73152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only tutor can confirm/complete · terminal states reject further transitions · review only after completed, one per session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USE OF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tool at the points the class structured for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ASSIGNMENT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52044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USED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0" y="17373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CHANGED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292840" cy="0"/>
          </a:xfrm>
          <a:prstGeom prst="line">
            <a:avLst/>
          </a:prstGeom>
          <a:noFill/>
          <a:ln w="12700">
            <a:solidFill>
              <a:srgbClr val="E8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11292840" cy="868680"/>
          </a:xfrm>
          <a:prstGeom prst="rect">
            <a:avLst/>
          </a:prstGeom>
          <a:solidFill>
            <a:srgbClr val="F3EEE5"/>
          </a:solidFill>
          <a:ln w="12700">
            <a:solidFill>
              <a:srgbClr val="F3E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Data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2286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DDL from my entity list — ENUMs, FKs, ON DELETE behavior, indexes.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0" y="228600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flagged index. Removed cached avg_rating column. Added CHECK (rating BETWEEN 1 AND 5). Sized password_hash safely.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API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315468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24 endpoints from the data model + example req/res JSON.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0" y="31546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21 endpoints — removed unnecessary DELETEs. Standardized snake_case. Renamed POST /tutor-applications → /tutors/apply.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292840" cy="868680"/>
          </a:xfrm>
          <a:prstGeom prst="rect">
            <a:avLst/>
          </a:prstGeom>
          <a:solidFill>
            <a:srgbClr val="F3EEE5"/>
          </a:solidFill>
          <a:ln w="12700">
            <a:solidFill>
              <a:srgbClr val="F3EE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233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Scaffold-App-with-AI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402336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slide's prompt to generate the project skeleton (Vite + Express + single-port).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98080" y="40233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Hand-wrote all routes, middleware, React pages, queries afterward.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boilerplate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20440" y="489204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route file structures from endpoint descriptions.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0" y="48920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line. Integrated the project's existing validation chain, error handling, middleware patterns.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852160"/>
            <a:ext cx="11292840" cy="384048"/>
          </a:xfrm>
          <a:prstGeom prst="roundRect">
            <a:avLst>
              <a:gd name="adj" fmla="val 28571"/>
            </a:avLst>
          </a:prstGeom>
          <a:solidFill>
            <a:srgbClr val="3D5A40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852160"/>
            <a:ext cx="11292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decision (sessions vs JWT, single-port, schema, state machine) was mine.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USE OF AI · CONTINUED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was wrong, and how I caught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62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A85E48"/>
          </a:solidFill>
          <a:ln w="12700">
            <a:solidFill>
              <a:srgbClr val="A85E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password_hash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210312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/api/auth/me returned the entire user row — bcrypt hash and all. Caught on review. Added a sanitize(user) helper. Pinned it with a test.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1635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A85E48"/>
          </a:solidFill>
          <a:ln w="12700">
            <a:solidFill>
              <a:srgbClr val="A85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163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string interpolation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063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of /api/reviews used `${id}` directly in the WHERE clause. Switched to parameterized `?`. Class proposal called this out as a security requirement.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7647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6B6357"/>
          </a:solidFill>
          <a:ln w="12700">
            <a:solidFill>
              <a:srgbClr val="6B63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76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749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 in a CommonJS project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77440" y="40233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tests used import syntax even though my server is type:'commonjs'. Renamed test files to .mjs and used createRequire to bridge.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3659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36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4709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Playwright query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377440" y="49834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 getByLabel("Email") — but react-bootstrap's Form.Group doesn't auto-link Form.Label to Form.Control. Switched to getByPlaceholder.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69671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6967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77440" y="5669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/api/recommend had no fallback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77440" y="59436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version 500'd if OPENAI_API_KEY wasn't set. Added a deterministic ranking (rating × 2 + log(sessions+1) + min(2, slot_count × 0.2)) — feature works without an API key.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1292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checked AI's output: browser preview after every change · curl/Supertest smoke tests at every backend milestone · 64 automated tests in CI.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LESSONS LEARNED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7 weeks of this stack taught 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703320" cy="36576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337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components small. Lift shared concerns into context (AuthContext, ToastProvider) — prop drilling falls apart fast in role-aware UIs.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16552" y="169164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16552" y="1691640"/>
            <a:ext cx="3703320" cy="36576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337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5's path-to-regexp is a real change. My catch-all `/.*/` regex silently swallowed `/api/health`. Plain `app.use('/api', 404)` is clearer and survives upgrades.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4" y="169164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84464" y="1691640"/>
            <a:ext cx="3703320" cy="365760"/>
          </a:xfrm>
          <a:prstGeom prst="rect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67344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67344" y="2194560"/>
            <a:ext cx="3337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columns come back as 'HH:MM:SS' but inputs are 'HH:MM'. Strict string comparison silently failed. Catching it required normalization helpers + a regression test.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50792"/>
            <a:ext cx="3703320" cy="365760"/>
          </a:xfrm>
          <a:prstGeom prst="rect">
            <a:avLst/>
          </a:prstGeom>
          <a:solidFill>
            <a:srgbClr val="8AA68A"/>
          </a:solidFill>
          <a:ln w="12700">
            <a:solidFill>
              <a:srgbClr val="8AA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507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553712"/>
            <a:ext cx="3337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endpoints before writing them — what the AI-Assisted API Design assignment forced me to do — was the single biggest time saver.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16552" y="4050792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16552" y="4050792"/>
            <a:ext cx="3703320" cy="365760"/>
          </a:xfrm>
          <a:prstGeom prst="rect">
            <a:avLst/>
          </a:prstGeom>
          <a:solidFill>
            <a:srgbClr val="5A7A5A"/>
          </a:solidFill>
          <a:ln w="12700">
            <a:solidFill>
              <a:srgbClr val="5A7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40507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99432" y="4553712"/>
            <a:ext cx="3337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over JWT for same-origin apps. httpOnly cookies, no XSS exposure of tokens, simpler logout. Sanitize the user object on every response.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84464" y="4050792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84464" y="4050792"/>
            <a:ext cx="3703320" cy="365760"/>
          </a:xfrm>
          <a:prstGeom prst="rect">
            <a:avLst/>
          </a:prstGeom>
          <a:solidFill>
            <a:srgbClr val="3D5A40"/>
          </a:solidFill>
          <a:ln w="12700">
            <a:solidFill>
              <a:srgbClr val="3D5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67344" y="40507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67344" y="4553712"/>
            <a:ext cx="33375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MariaDB service container in CI catches the bugs mocks hide — like the TIME normalization issue. Self-hosted runner + PM2 covers the firewalled-server case.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LESSONS LEARNED · CONTINUED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working with AI taught me.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the prompt before generating code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told AI 'Express 5, mysql2, express-session, no JWT, single-port' up front, output stayed in scope. When I left it vague, it invented Knex, JWT middleware, separate dev servers.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52928"/>
            <a:ext cx="457200" cy="45720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788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first, code second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AI-Assisted Data Model and API Design assignments paid back in the implementation phase. The week spent on schema + endpoints made coding faster, not slower.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49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line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1732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bug on the previous slide was caught only because I reviewed the code, not because AI flagged it. AI follows the path of least resistance — always 'spread the row into the response,' always interpolate `${id}` into SQL.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73168"/>
            <a:ext cx="457200" cy="45720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709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how you trust the AI on the next change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17320" y="4983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test on the auth response shape would have caught the password_hash leak the moment it appeared. Tests pin down what I learned the hard way.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292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8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733288"/>
            <a:ext cx="457200" cy="45720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733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the engineer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417320" y="5943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one tool in the kit alongside docs, Stack Overflow, and the React-Bootstrap source. The decisions are mine. The work I am graded on is my work.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0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5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5A7A5A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54864" cy="6858000"/>
          </a:xfrm>
          <a:prstGeom prst="rect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show you the running app.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1089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3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3502152"/>
            <a:ext cx="365760" cy="36576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502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34747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Alex (student) → student dashboard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959352"/>
            <a:ext cx="365760" cy="36576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959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39319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Tutor → filter Calculus → Marcus's profile → Request session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4416552"/>
            <a:ext cx="365760" cy="36576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16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43891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Jane (tutor) → confirm pending request → mark completed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4873752"/>
            <a:ext cx="365760" cy="36576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873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8463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back to Alex → leave a 5-star 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5330952"/>
            <a:ext cx="365760" cy="365760"/>
          </a:xfrm>
          <a:prstGeom prst="ellipse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330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5303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admin → review appears in moderation queue · approve Ravi's pending application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E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http://10.192.145.179:4131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3D5A4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54864" cy="6858000"/>
          </a:xfrm>
          <a:prstGeom prst="rect">
            <a:avLst/>
          </a:prstGeom>
          <a:solidFill>
            <a:srgbClr val="C97B63"/>
          </a:solidFill>
          <a:ln w="12700">
            <a:solidFill>
              <a:srgbClr val="C97B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945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3D5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126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 Deka · COMP 318 · May 5,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0" y="2377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7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2834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3090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10.192.145.179:4131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0" y="34747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0" y="37307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github.com/calvindeka/TutorConnect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43708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github.com/calvindeka/TutorConnect/actions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0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A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50109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ARCHITECTURE · CHANGELOG · CD_SETUP · MOODLE_SUBMISSION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TutorConnect — Final Project Presentation</dc:title>
  <dc:subject>PptxGenJS Presentation</dc:subject>
  <dc:creator>Calvin Deka</dc:creator>
  <cp:lastModifiedBy>Calvin Deka</cp:lastModifiedBy>
  <cp:revision>1</cp:revision>
  <dcterms:created xsi:type="dcterms:W3CDTF">2026-05-04T20:01:36Z</dcterms:created>
  <dcterms:modified xsi:type="dcterms:W3CDTF">2026-05-04T20:01:36Z</dcterms:modified>
</cp:coreProperties>
</file>